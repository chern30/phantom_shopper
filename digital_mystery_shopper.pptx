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0107"/>
            <a:ext cx="55059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600"/>
              </a:spcAft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HACKATHON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1142107"/>
            <a:ext cx="5505956" cy="2011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spcBef>
                <a:spcPts val="4800"/>
              </a:spcBef>
              <a:spcAft>
                <a:spcPts val="18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
</a:t>
            </a:r>
            <a:pPr algn="l" indent="0" marL="0">
              <a:lnSpc>
                <a:spcPts val="5280"/>
              </a:lnSpc>
              <a:spcBef>
                <a:spcPts val="4800"/>
              </a:spcBef>
              <a:spcAft>
                <a:spcPts val="1800"/>
              </a:spcAft>
              <a:buNone/>
            </a:pPr>
            <a:r>
              <a:rPr lang="en-US" sz="4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Mystery</a:t>
            </a:r>
            <a:pPr algn="l" indent="0" marL="0">
              <a:lnSpc>
                <a:spcPts val="5280"/>
              </a:lnSpc>
              <a:spcBef>
                <a:spcPts val="4800"/>
              </a:spcBef>
              <a:spcAft>
                <a:spcPts val="1800"/>
              </a:spcAft>
              <a:buNone/>
            </a:pPr>
            <a:endParaRPr lang="en-US" sz="4800" dirty="0"/>
          </a:p>
          <a:p>
            <a:pPr algn="l" indent="0" marL="0">
              <a:lnSpc>
                <a:spcPts val="5280"/>
              </a:lnSpc>
              <a:spcBef>
                <a:spcPts val="4800"/>
              </a:spcBef>
              <a:spcAft>
                <a:spcPts val="18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62000" y="3382119"/>
            <a:ext cx="550595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32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brand knows their click-through rate.
Nobody knows what it's like to be their customer online.
</a:t>
            </a:r>
            <a:pPr algn="l" indent="0" marL="0">
              <a:lnSpc>
                <a:spcPts val="2100"/>
              </a:lnSpc>
              <a:spcBef>
                <a:spcPts val="1400"/>
              </a:spcBef>
              <a:spcAft>
                <a:spcPts val="3200"/>
              </a:spcAft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4588520"/>
            <a:ext cx="1573857" cy="314325"/>
          </a:xfrm>
          <a:prstGeom prst="roundRect">
            <a:avLst>
              <a:gd name="adj" fmla="val 80808"/>
            </a:avLst>
          </a:prstGeom>
          <a:solidFill>
            <a:srgbClr val="FF6B35">
              <a:alpha val="13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9226" y="4674245"/>
            <a:ext cx="12233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tinyfish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88257" y="4588520"/>
            <a:ext cx="1817936" cy="314325"/>
          </a:xfrm>
          <a:prstGeom prst="roundRect">
            <a:avLst>
              <a:gd name="adj" fmla="val 80808"/>
            </a:avLst>
          </a:prstGeom>
          <a:solidFill>
            <a:srgbClr val="1A1F2E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75483" y="4674245"/>
            <a:ext cx="14723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AI consumer agents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58593" y="4588520"/>
            <a:ext cx="1701403" cy="314325"/>
          </a:xfrm>
          <a:prstGeom prst="roundRect">
            <a:avLst>
              <a:gd name="adj" fmla="val 80808"/>
            </a:avLst>
          </a:prstGeom>
          <a:solidFill>
            <a:srgbClr val="1A1F2E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45819" y="4674245"/>
            <a:ext cx="13534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journey intelligence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88198" y="1587698"/>
            <a:ext cx="3555802" cy="3555802"/>
          </a:xfrm>
          <a:prstGeom prst="roundRect">
            <a:avLst>
              <a:gd name="adj" fmla="val 85719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22912" y="3365599"/>
            <a:ext cx="106718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000"/>
              </a:lnSpc>
              <a:spcBef>
                <a:spcPts val="6000"/>
              </a:spcBef>
              <a:spcAft>
                <a:spcPts val="6000"/>
              </a:spcAft>
              <a:buNone/>
            </a:pPr>
            <a:r>
              <a:rPr lang="en-US" sz="6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4912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339602"/>
            <a:ext cx="91440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6670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539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analytics is fundamentally broken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670447"/>
            <a:ext cx="829066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spend billions on analytics tools that tell them </a:t>
            </a:r>
            <a:pPr algn="l" indent="0" marL="0">
              <a:lnSpc>
                <a:spcPts val="1540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pPr algn="l" indent="0" marL="0">
              <a:lnSpc>
                <a:spcPts val="1540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Nobody tells them </a:t>
            </a:r>
            <a:pPr algn="l" indent="0" marL="0">
              <a:lnSpc>
                <a:spcPts val="1540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their customers actually experience</a:t>
            </a:r>
            <a:pPr algn="l" indent="0" marL="0">
              <a:lnSpc>
                <a:spcPts val="1540"/>
              </a:lnSpc>
              <a:spcBef>
                <a:spcPts val="1100"/>
              </a:spcBef>
              <a:spcAft>
                <a:spcPts val="14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before the purchase decision is made.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239268"/>
            <a:ext cx="2607766" cy="2113062"/>
          </a:xfrm>
          <a:prstGeom prst="roundRect">
            <a:avLst>
              <a:gd name="adj" fmla="val 48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1763" y="2239268"/>
            <a:ext cx="0" cy="2113062"/>
          </a:xfrm>
          <a:prstGeom prst="line">
            <a:avLst/>
          </a:prstGeom>
          <a:noFill/>
          <a:ln w="47625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276" y="2620268"/>
            <a:ext cx="22488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3276" y="3026569"/>
            <a:ext cx="22488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tools lie by omission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3276" y="3293269"/>
            <a:ext cx="224883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show keyword rankings — not whether a real shopper discovers you during a genuine purchase journey starting from a lifestyle search.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68117" y="2239268"/>
            <a:ext cx="2607766" cy="2113062"/>
          </a:xfrm>
          <a:prstGeom prst="roundRect">
            <a:avLst>
              <a:gd name="adj" fmla="val 48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91929" y="2239268"/>
            <a:ext cx="0" cy="2113062"/>
          </a:xfrm>
          <a:prstGeom prst="line">
            <a:avLst/>
          </a:prstGeom>
          <a:noFill/>
          <a:ln w="47625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443" y="2620268"/>
            <a:ext cx="22488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3443" y="3026569"/>
            <a:ext cx="22488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platforms grade their own homework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443" y="3445669"/>
            <a:ext cx="224883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Meta report impressions, not whether the ad reached the right psychological profile at the right moment of intent.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28283" y="2239268"/>
            <a:ext cx="2607766" cy="2113062"/>
          </a:xfrm>
          <a:prstGeom prst="roundRect">
            <a:avLst>
              <a:gd name="adj" fmla="val 48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52096" y="2239268"/>
            <a:ext cx="0" cy="2113062"/>
          </a:xfrm>
          <a:prstGeom prst="line">
            <a:avLst/>
          </a:prstGeom>
          <a:noFill/>
          <a:ln w="47625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3609" y="2620268"/>
            <a:ext cx="22488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53609" y="3026569"/>
            <a:ext cx="22488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data misses the experience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3609" y="3445669"/>
            <a:ext cx="224883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prices are scraped in bulk — not experienced the way a consumer actually encounters and judges them side-by-side.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534198"/>
            <a:ext cx="9144000" cy="609302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0" y="4538960"/>
            <a:ext cx="9144000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477217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angle: Consumer reality vs. platform-reported reality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4912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339602"/>
            <a:ext cx="9144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6670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5395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decisions are made long before the product is searched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7950" y="1742033"/>
            <a:ext cx="2448967" cy="1875383"/>
          </a:xfrm>
          <a:prstGeom prst="roundRect">
            <a:avLst>
              <a:gd name="adj" fmla="val 5418"/>
            </a:avLst>
          </a:prstGeom>
          <a:solidFill>
            <a:srgbClr val="1A1F2E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9875" y="2005459"/>
            <a:ext cx="21676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9875" y="2272159"/>
            <a:ext cx="21676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2557909"/>
            <a:ext cx="216761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purchase intent. Lifestyle, aesthetic, curiosity.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9875" y="2969270"/>
            <a:ext cx="2167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"futuristic room ideas"</a:t>
            </a:r>
            <a:endParaRPr lang="en-US" sz="900" dirty="0"/>
          </a:p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"japandi living room"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33117" y="2546300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917" y="1742033"/>
            <a:ext cx="2449116" cy="1875383"/>
          </a:xfrm>
          <a:prstGeom prst="roundRect">
            <a:avLst>
              <a:gd name="adj" fmla="val 5418"/>
            </a:avLst>
          </a:prstGeom>
          <a:solidFill>
            <a:srgbClr val="1E2535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9842" y="2005459"/>
            <a:ext cx="21677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99842" y="2272159"/>
            <a:ext cx="21677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9842" y="2557909"/>
            <a:ext cx="216777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begins to form. Starts narrowing options.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99842" y="2969270"/>
            <a:ext cx="21677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furniture fits this look"</a:t>
            </a:r>
            <a:endParaRPr lang="en-US" sz="900" dirty="0"/>
          </a:p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"minimalist sofa styles"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63233" y="2546300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68033" y="1742033"/>
            <a:ext cx="2468017" cy="1875383"/>
          </a:xfrm>
          <a:prstGeom prst="roundRect">
            <a:avLst>
              <a:gd name="adj" fmla="val 5418"/>
            </a:avLst>
          </a:prstGeom>
          <a:solidFill>
            <a:srgbClr val="1E2A20"/>
          </a:solidFill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39483" y="2014984"/>
            <a:ext cx="21676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39483" y="2281684"/>
            <a:ext cx="21676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39483" y="2567434"/>
            <a:ext cx="216761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comparing and price-checking.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39483" y="2830264"/>
            <a:ext cx="2167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"best minimalist sofa under $800"</a:t>
            </a:r>
            <a:endParaRPr lang="en-US" sz="900" dirty="0"/>
          </a:p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"[brand] vs [competitor]"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39483" y="3262015"/>
            <a:ext cx="1521619" cy="183952"/>
          </a:xfrm>
          <a:prstGeom prst="roundRect">
            <a:avLst>
              <a:gd name="adj" fmla="val 27616"/>
            </a:avLst>
          </a:prstGeom>
          <a:solidFill>
            <a:srgbClr val="FF6B35">
              <a:alpha val="8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50509" y="3296841"/>
            <a:ext cx="13255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All other tools start here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7950" y="3795117"/>
            <a:ext cx="8128099" cy="955477"/>
          </a:xfrm>
          <a:prstGeom prst="roundRect">
            <a:avLst>
              <a:gd name="adj" fmla="val 7975"/>
            </a:avLst>
          </a:prstGeom>
          <a:solidFill>
            <a:srgbClr val="FF6B35">
              <a:alpha val="8000"/>
            </a:srgbClr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0626" y="4134743"/>
            <a:ext cx="17852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8048" y="4077593"/>
            <a:ext cx="5398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powerful findings come from Phases 1 and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48048" y="4347418"/>
            <a:ext cx="53987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competitors are building brand affinity before a product name has ever been typed into a search bar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live as consumers, not shoppers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50" y="1418927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480" y="147444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802" y="1533227"/>
            <a:ext cx="4145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consumer, not the product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8802" y="1790402"/>
            <a:ext cx="414563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have lifestyle interests, not search terms. </a:t>
            </a:r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"Style-conscious 30-year-old furnishing a first apartment."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352675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9480" y="240818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88802" y="2466975"/>
            <a:ext cx="4145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start from inspiration, not intent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88802" y="2724150"/>
            <a:ext cx="414563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begins with a lifestyle search — </a:t>
            </a:r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"futuristic room inspiration"</a:t>
            </a:r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 a product query. Purchase intent emerges naturally.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328642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9480" y="3341936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802" y="3400723"/>
            <a:ext cx="4145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run to completion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8802" y="3657898"/>
            <a:ext cx="414563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continue across Google, Reddit, Pinterest, Amazon until they purchase or give up. Every decision is logged in consumer voice.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4220170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9480" y="427568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8802" y="4334470"/>
            <a:ext cx="414563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delivers confidence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8802" y="4591645"/>
            <a:ext cx="414563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agents per run. 100 agents is reportable. Every finding links to a real agent transcript.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7050" y="1406277"/>
            <a:ext cx="3429000" cy="4381500"/>
          </a:xfrm>
          <a:prstGeom prst="roundRect">
            <a:avLst>
              <a:gd name="adj" fmla="val 2963"/>
            </a:avLst>
          </a:prstGeom>
          <a:solidFill>
            <a:srgbClr val="1A1F2E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68975" y="1669703"/>
            <a:ext cx="31672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FURNITURE BRAND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68975" y="1910804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59326" y="1987004"/>
            <a:ext cx="29730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— PINTEREST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9326" y="2215604"/>
            <a:ext cx="29730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"futuristic room inspiration" — saving mood boards, no intent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68975" y="2728466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59326" y="2804666"/>
            <a:ext cx="29730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— REDDIT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59326" y="3033266"/>
            <a:ext cx="29730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r/malelivingspace — competitor mentioned 4× in top thread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68975" y="3546128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59326" y="3622328"/>
            <a:ext cx="25583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 — GOOGLE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59326" y="3850928"/>
            <a:ext cx="255836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"minimalist sofa under $800" — intent has formed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68975" y="4215259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59326" y="4291459"/>
            <a:ext cx="24240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— GOOGLE SHOPPING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59326" y="4520059"/>
            <a:ext cx="24240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at $949. No differentiators in listing.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68975" y="4884390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559326" y="4960590"/>
            <a:ext cx="29730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 — COMPETITOR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59326" y="5189190"/>
            <a:ext cx="29730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competitor at $799. Already trusted from Reddit.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PERSONAS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instances per persona — statistical confidence at scale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50" y="1533227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customisable archetypes. Each spawns multiple agent instances from different starting points.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828502"/>
            <a:ext cx="1524000" cy="2412653"/>
          </a:xfrm>
          <a:prstGeom prst="roundRect">
            <a:avLst>
              <a:gd name="adj" fmla="val 666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07950" y="1847552"/>
            <a:ext cx="15240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901" y="2247602"/>
            <a:ext cx="12955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4901" y="2692003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Hunter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901" y="2945904"/>
            <a:ext cx="1295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PRICE-FIRST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4901" y="3174504"/>
            <a:ext cx="1295501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aggressively. Abandons above threshold. Never buys without comparing 5+ options.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58901" y="1828502"/>
            <a:ext cx="1524149" cy="2412653"/>
          </a:xfrm>
          <a:prstGeom prst="roundRect">
            <a:avLst>
              <a:gd name="adj" fmla="val 6666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158901" y="1847552"/>
            <a:ext cx="1524149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5851" y="2247602"/>
            <a:ext cx="12956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5851" y="2692003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 Parent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5851" y="2945904"/>
            <a:ext cx="12956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REVIEW-DRIVEN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5851" y="3174504"/>
            <a:ext cx="129565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everything. Compares 4–6 options. Needs clear justification for any premium price.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0000" y="1828502"/>
            <a:ext cx="1524000" cy="2412653"/>
          </a:xfrm>
          <a:prstGeom prst="roundRect">
            <a:avLst>
              <a:gd name="adj" fmla="val 666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810000" y="1847552"/>
            <a:ext cx="1524000" cy="0"/>
          </a:xfrm>
          <a:prstGeom prst="line">
            <a:avLst/>
          </a:prstGeom>
          <a:noFill/>
          <a:ln w="381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6950" y="2247602"/>
            <a:ext cx="12955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6950" y="2692003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Seeker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6950" y="2945904"/>
            <a:ext cx="1295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BRAND-DRIVEN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6950" y="3174504"/>
            <a:ext cx="129550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Price-insensitive. Converts fast on editorial validation. Trusts publications over Reddit.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60950" y="1828502"/>
            <a:ext cx="1524149" cy="2412653"/>
          </a:xfrm>
          <a:prstGeom prst="roundRect">
            <a:avLst>
              <a:gd name="adj" fmla="val 6666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460950" y="1847552"/>
            <a:ext cx="1524149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7901" y="2247602"/>
            <a:ext cx="12956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87901" y="2692003"/>
            <a:ext cx="12956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Obsessive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87901" y="3098304"/>
            <a:ext cx="12956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COMMUNITY-FIRST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7901" y="3326904"/>
            <a:ext cx="129565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on Reddit. Deep Q&amp;A reader. Trusts community over brand claims. Slow to convert.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12050" y="1828502"/>
            <a:ext cx="1524000" cy="2412653"/>
          </a:xfrm>
          <a:prstGeom prst="roundRect">
            <a:avLst>
              <a:gd name="adj" fmla="val 666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112050" y="1847552"/>
            <a:ext cx="1524000" cy="0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39000" y="2247602"/>
            <a:ext cx="12955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39000" y="2692003"/>
            <a:ext cx="12955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 Buyer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9000" y="2945904"/>
            <a:ext cx="129550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INSTANT-CONVERT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39000" y="3174504"/>
            <a:ext cx="1295501" cy="799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first result. Converts in under 10 minutes. Highly susceptible to ads and visuals.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7950" y="4368105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persona starts from a different platform — Google, Amazon, Reddit, Pinterest, YouTube — producing independent journey paths.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43352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RUN 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43352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agent journeys in progress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246590" y="371475"/>
            <a:ext cx="1389459" cy="517327"/>
          </a:xfrm>
          <a:prstGeom prst="roundRect">
            <a:avLst>
              <a:gd name="adj" fmla="val 49099"/>
            </a:avLst>
          </a:prstGeom>
          <a:solidFill>
            <a:srgbClr val="00D4AA">
              <a:alpha val="12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08515" y="558701"/>
            <a:ext cx="1086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— 30 agents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406277"/>
            <a:ext cx="1073051" cy="1085701"/>
          </a:xfrm>
          <a:prstGeom prst="roundRect">
            <a:avLst>
              <a:gd name="adj" fmla="val 591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4901" y="1583978"/>
            <a:ext cx="835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34901" y="1907828"/>
            <a:ext cx="835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57201" y="1406277"/>
            <a:ext cx="1073200" cy="1085701"/>
          </a:xfrm>
          <a:prstGeom prst="roundRect">
            <a:avLst>
              <a:gd name="adj" fmla="val 591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84152" y="1583978"/>
            <a:ext cx="8356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84152" y="1907828"/>
            <a:ext cx="835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7950" y="2568178"/>
            <a:ext cx="1073051" cy="1085701"/>
          </a:xfrm>
          <a:prstGeom prst="roundRect">
            <a:avLst>
              <a:gd name="adj" fmla="val 591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2745879"/>
            <a:ext cx="8355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 UP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34901" y="3069729"/>
            <a:ext cx="8355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57201" y="2568178"/>
            <a:ext cx="1073200" cy="1085701"/>
          </a:xfrm>
          <a:prstGeom prst="roundRect">
            <a:avLst>
              <a:gd name="adj" fmla="val 591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4152" y="2745879"/>
            <a:ext cx="8356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784152" y="3069729"/>
            <a:ext cx="8356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7950" y="3730079"/>
            <a:ext cx="2222450" cy="2240310"/>
          </a:xfrm>
          <a:prstGeom prst="roundRect">
            <a:avLst>
              <a:gd name="adj" fmla="val 285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4901" y="3920430"/>
            <a:ext cx="20079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6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 BY PERSONA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34901" y="4193381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4602" y="4218831"/>
            <a:ext cx="673298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74602" y="4218831"/>
            <a:ext cx="538609" cy="63401"/>
          </a:xfrm>
          <a:prstGeom prst="roundRect">
            <a:avLst>
              <a:gd name="adj" fmla="val 6009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92554" y="4193381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4901" y="4548783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74602" y="4574232"/>
            <a:ext cx="673298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74602" y="4574232"/>
            <a:ext cx="504974" cy="63401"/>
          </a:xfrm>
          <a:prstGeom prst="roundRect">
            <a:avLst>
              <a:gd name="adj" fmla="val 6009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292554" y="4548783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4901" y="4904184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574602" y="4929634"/>
            <a:ext cx="673298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74602" y="4929634"/>
            <a:ext cx="188416" cy="63401"/>
          </a:xfrm>
          <a:prstGeom prst="roundRect">
            <a:avLst>
              <a:gd name="adj" fmla="val 600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292554" y="4904184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4901" y="5259586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74602" y="5285036"/>
            <a:ext cx="673298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74602" y="5285036"/>
            <a:ext cx="114449" cy="63401"/>
          </a:xfrm>
          <a:prstGeom prst="roundRect">
            <a:avLst>
              <a:gd name="adj" fmla="val 60094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292554" y="525958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4901" y="5614988"/>
            <a:ext cx="9067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574602" y="5640437"/>
            <a:ext cx="673298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74602" y="5640437"/>
            <a:ext cx="20092" cy="63401"/>
          </a:xfrm>
          <a:prstGeom prst="roundRect">
            <a:avLst>
              <a:gd name="adj" fmla="val 18962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292554" y="5614988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933551" y="1507778"/>
            <a:ext cx="5816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FEED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33551" y="1812429"/>
            <a:ext cx="5702498" cy="1157883"/>
          </a:xfrm>
          <a:prstGeom prst="roundRect">
            <a:avLst>
              <a:gd name="adj" fmla="val 5484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952601" y="1812429"/>
            <a:ext cx="0" cy="1157883"/>
          </a:xfrm>
          <a:prstGeom prst="line">
            <a:avLst/>
          </a:prstGeom>
          <a:noFill/>
          <a:ln w="38100">
            <a:solidFill>
              <a:srgbClr val="4A55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8602" y="2028230"/>
            <a:ext cx="997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 Parent #1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08305" y="2015430"/>
            <a:ext cx="40881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Pinterest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098602" y="2377380"/>
            <a:ext cx="5518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INSPIRATION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098602" y="2605980"/>
            <a:ext cx="55187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"Saving competitor mood boards for 'scandinavian nursery ideas'. No purchase intent yet. Dwell: 12 min."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933551" y="3059162"/>
            <a:ext cx="5702498" cy="1306413"/>
          </a:xfrm>
          <a:prstGeom prst="roundRect">
            <a:avLst>
              <a:gd name="adj" fmla="val 4861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2952601" y="3059162"/>
            <a:ext cx="0" cy="130641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8602" y="3274963"/>
            <a:ext cx="13027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Obsessive #2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15461" y="3262164"/>
            <a:ext cx="299511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98602" y="3624114"/>
            <a:ext cx="5518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CONSIDERATION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098602" y="3852714"/>
            <a:ext cx="5518708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"r/malelivingspace recommends competitor sofa as 'best minimalist under $1k'. Opened their site in a new tab."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933551" y="4454426"/>
            <a:ext cx="5702498" cy="1157883"/>
          </a:xfrm>
          <a:prstGeom prst="roundRect">
            <a:avLst>
              <a:gd name="adj" fmla="val 5484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2952601" y="4454426"/>
            <a:ext cx="0" cy="1157883"/>
          </a:xfrm>
          <a:prstGeom prst="line">
            <a:avLst/>
          </a:prstGeom>
          <a:noFill/>
          <a:ln w="38100">
            <a:solidFill>
              <a:srgbClr val="00D4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98602" y="4670227"/>
            <a:ext cx="10759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Seeker #2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81677" y="4657427"/>
            <a:ext cx="33397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098602" y="5019377"/>
            <a:ext cx="5518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YOUR BRAND — $1,200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098602" y="5247977"/>
            <a:ext cx="55187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"Journey: 3 days, 14 sessions. Decisive moment: editorial on Architectural Digest."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933551" y="5701159"/>
            <a:ext cx="5702498" cy="1157883"/>
          </a:xfrm>
          <a:prstGeom prst="roundRect">
            <a:avLst>
              <a:gd name="adj" fmla="val 5484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2952601" y="5701159"/>
            <a:ext cx="0" cy="1157883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98602" y="5916960"/>
            <a:ext cx="971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Hunter #4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24329" y="5904161"/>
            <a:ext cx="800466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Shopping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098602" y="6266111"/>
            <a:ext cx="55187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COMPETITOR — $149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098602" y="6494711"/>
            <a:ext cx="55187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product at $389, no differentiators. Left in 8 seconds. Bought IKEA."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journey mapped. Every drop-off explained.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50" y="1406277"/>
            <a:ext cx="1684883" cy="1221879"/>
          </a:xfrm>
          <a:prstGeom prst="roundRect">
            <a:avLst>
              <a:gd name="adj" fmla="val 519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0591" y="1761679"/>
            <a:ext cx="145960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0591" y="2310854"/>
            <a:ext cx="14596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Purchased your brand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94334" y="1406277"/>
            <a:ext cx="1685032" cy="1221879"/>
          </a:xfrm>
          <a:prstGeom prst="roundRect">
            <a:avLst>
              <a:gd name="adj" fmla="val 519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06973" y="1761679"/>
            <a:ext cx="145975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06973" y="2310854"/>
            <a:ext cx="1459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competitor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80867" y="1406277"/>
            <a:ext cx="1685032" cy="1221879"/>
          </a:xfrm>
          <a:prstGeom prst="roundRect">
            <a:avLst>
              <a:gd name="adj" fmla="val 519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3506" y="1761679"/>
            <a:ext cx="145975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193506" y="2310854"/>
            <a:ext cx="145975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50" y="2755106"/>
            <a:ext cx="5257949" cy="3047405"/>
          </a:xfrm>
          <a:prstGeom prst="roundRect">
            <a:avLst>
              <a:gd name="adj" fmla="val 2500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0350" y="2983557"/>
            <a:ext cx="50522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JOURNEY FUNNEL — 30 AGENTS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0350" y="3313658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journey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41550" y="3348633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41550" y="3348633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4A55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91707" y="3313658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agents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0350" y="372635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seen during inspiration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41550" y="3761333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641550" y="3761333"/>
            <a:ext cx="617190" cy="63401"/>
          </a:xfrm>
          <a:prstGeom prst="roundRect">
            <a:avLst>
              <a:gd name="adj" fmla="val 600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91707" y="3726359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0350" y="413905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seen during consideration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41550" y="4174034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41550" y="4174034"/>
            <a:ext cx="1074390" cy="63401"/>
          </a:xfrm>
          <a:prstGeom prst="roundRect">
            <a:avLst>
              <a:gd name="adj" fmla="val 600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91707" y="4139059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agents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0350" y="455175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reached at decision stage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41550" y="4586734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641550" y="4586734"/>
            <a:ext cx="1668810" cy="63401"/>
          </a:xfrm>
          <a:prstGeom prst="roundRect">
            <a:avLst>
              <a:gd name="adj" fmla="val 60094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91707" y="4551759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agents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0350" y="496446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— your brand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41550" y="4999434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641550" y="4999434"/>
            <a:ext cx="297061" cy="63401"/>
          </a:xfrm>
          <a:prstGeom prst="roundRect">
            <a:avLst>
              <a:gd name="adj" fmla="val 60094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91707" y="496446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0350" y="537716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— competitor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41550" y="5412135"/>
            <a:ext cx="2286149" cy="63401"/>
          </a:xfrm>
          <a:prstGeom prst="roundRect">
            <a:avLst>
              <a:gd name="adj" fmla="val 60094"/>
            </a:avLst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641550" y="5412135"/>
            <a:ext cx="845790" cy="63401"/>
          </a:xfrm>
          <a:prstGeom prst="roundRect">
            <a:avLst>
              <a:gd name="adj" fmla="val 60094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91707" y="5377160"/>
            <a:ext cx="621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agents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69050" y="1406277"/>
            <a:ext cx="2667000" cy="3607743"/>
          </a:xfrm>
          <a:prstGeom prst="roundRect">
            <a:avLst>
              <a:gd name="adj" fmla="val 285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21450" y="1660178"/>
            <a:ext cx="24094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tracked per journey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1450" y="1930003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261050" y="2006203"/>
            <a:ext cx="151000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visibility at each phase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1450" y="235788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61050" y="2434084"/>
            <a:ext cx="178871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ads on brand searches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1450" y="2785765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61050" y="2861965"/>
            <a:ext cx="165892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perception vs. competitors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21450" y="3213646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61050" y="3289846"/>
            <a:ext cx="169140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review content encountered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21450" y="364152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61050" y="3717727"/>
            <a:ext cx="147554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ad effectiveness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21450" y="4069407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261050" y="4145607"/>
            <a:ext cx="112745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sentiment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21450" y="4497288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61050" y="4573488"/>
            <a:ext cx="176913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moment before purchase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69050" y="5140970"/>
            <a:ext cx="2667000" cy="1251347"/>
          </a:xfrm>
          <a:prstGeom prst="roundRect">
            <a:avLst>
              <a:gd name="adj" fmla="val 6089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30975" y="5404396"/>
            <a:ext cx="23900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Insight Cards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30975" y="5661571"/>
            <a:ext cx="239001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drop-off generates a plain-English card with root cause and a concrete fix. Every stat links to an agent transcript.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INSIGHT CARD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CMO actually reads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50" y="1406277"/>
            <a:ext cx="5600998" cy="3356223"/>
          </a:xfrm>
          <a:prstGeom prst="roundRect">
            <a:avLst>
              <a:gd name="adj" fmla="val 3027"/>
            </a:avLst>
          </a:prstGeom>
          <a:solidFill>
            <a:srgbClr val="1A1F2E"/>
          </a:solidFill>
          <a:ln w="9525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7475" y="1415802"/>
            <a:ext cx="5581948" cy="688777"/>
          </a:xfrm>
          <a:prstGeom prst="rect">
            <a:avLst/>
          </a:prstGeom>
          <a:solidFill>
            <a:srgbClr val="FF6B35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17475" y="2099816"/>
            <a:ext cx="5581948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5176" y="1571476"/>
            <a:ext cx="950565" cy="367903"/>
          </a:xfrm>
          <a:prstGeom prst="roundRect">
            <a:avLst>
              <a:gd name="adj" fmla="val 13808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027" y="1698278"/>
            <a:ext cx="7883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Drop-off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47242" y="1669703"/>
            <a:ext cx="27813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During the Inspiration Phase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871" y="2485430"/>
            <a:ext cx="156115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9871" y="3034605"/>
            <a:ext cx="156115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30 agents never saw you in Phase 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78125" y="2231529"/>
            <a:ext cx="12650" cy="1122908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27870" y="2485430"/>
            <a:ext cx="156115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27870" y="3034605"/>
            <a:ext cx="1561159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competitor affinity before Googling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26123" y="2231529"/>
            <a:ext cx="12650" cy="1122908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75868" y="2485430"/>
            <a:ext cx="156115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375868" y="3034605"/>
            <a:ext cx="156115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competitor touchpoints before intent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5176" y="3557439"/>
            <a:ext cx="53310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AGENTS THOUGHT AT DECISION STAGE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5176" y="3722489"/>
            <a:ext cx="5226546" cy="745331"/>
          </a:xfrm>
          <a:prstGeom prst="rect">
            <a:avLst/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14226" y="3722489"/>
            <a:ext cx="0" cy="74533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0227" y="3900190"/>
            <a:ext cx="50332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Prudent Parent #1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0227" y="4128790"/>
            <a:ext cx="503323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seen [Competitor] everywhere when researching this look. I trust them."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5176" y="4531221"/>
            <a:ext cx="5226546" cy="745331"/>
          </a:xfrm>
          <a:prstGeom prst="rect">
            <a:avLst/>
          </a:prstGeom>
          <a:solidFill>
            <a:srgbClr val="0F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14226" y="4531221"/>
            <a:ext cx="0" cy="74533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0227" y="4708922"/>
            <a:ext cx="50332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Obsessive #3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60227" y="4937522"/>
            <a:ext cx="503323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"r/malelivingspace keeps recommending [Competitor]. I haven't heard of this other brand."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5176" y="5441454"/>
            <a:ext cx="5226546" cy="963513"/>
          </a:xfrm>
          <a:prstGeom prst="roundRect">
            <a:avLst>
              <a:gd name="adj" fmla="val 6590"/>
            </a:avLst>
          </a:prstGeom>
          <a:solidFill>
            <a:srgbClr val="00D4AA">
              <a:alpha val="6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1652" y="5653980"/>
            <a:ext cx="5052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FIX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1652" y="5882580"/>
            <a:ext cx="505266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in top-of-funnel content — Pinterest, Reddit community presence, editorial features. Your brand only appears at Google Shopping, after preferences are already formed.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86649" y="1406277"/>
            <a:ext cx="2349401" cy="2727871"/>
          </a:xfrm>
          <a:prstGeom prst="roundRect">
            <a:avLst>
              <a:gd name="adj" fmla="val 4325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39049" y="1660178"/>
            <a:ext cx="2085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39049" y="2056954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999" y="2018854"/>
            <a:ext cx="195600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appear in </a:t>
            </a:r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content</a:t>
            </a:r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Pinterest, YouTube, Reddit threads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39049" y="2807345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65999" y="2769245"/>
            <a:ext cx="1956003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</a:t>
            </a:r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becomes visible</a:t>
            </a:r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Google Shopping — after preferences 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39049" y="3557736"/>
            <a:ext cx="517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65999" y="3519636"/>
            <a:ext cx="195600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have </a:t>
            </a:r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pre-existing trust</a:t>
            </a:r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competitors discovered weeks earlier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86649" y="4235648"/>
            <a:ext cx="2349401" cy="1392287"/>
          </a:xfrm>
          <a:prstGeom prst="roundRect">
            <a:avLst>
              <a:gd name="adj" fmla="val 7297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39049" y="4489549"/>
            <a:ext cx="20854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is a transcript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39049" y="4746724"/>
            <a:ext cx="2085493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stat to read the full agent inner monologue. The proof behind every finding is real browsing behaviour, not an algorithm.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pricing — target buyer is the CMO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50" y="1406277"/>
            <a:ext cx="1856333" cy="3356223"/>
          </a:xfrm>
          <a:prstGeom prst="roundRect">
            <a:avLst>
              <a:gd name="adj" fmla="val 5473"/>
            </a:avLst>
          </a:prstGeom>
          <a:solidFill>
            <a:srgbClr val="1A1F2E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5176" y="1682502"/>
            <a:ext cx="151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5176" y="2234952"/>
            <a:ext cx="1511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5176" y="2714327"/>
            <a:ext cx="151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5176" y="3088928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38200" y="3088928"/>
            <a:ext cx="112122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persona archetypes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5176" y="3529459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8200" y="3529459"/>
            <a:ext cx="119667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campaign scan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5176" y="3969990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8200" y="3969990"/>
            <a:ext cx="81018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brand tracked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176" y="4410521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00" y="4410521"/>
            <a:ext cx="136563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map + insight cards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5176" y="4999583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8200" y="4999583"/>
            <a:ext cx="9140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agents per run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6684" y="1406277"/>
            <a:ext cx="1875532" cy="3356223"/>
          </a:xfrm>
          <a:prstGeom prst="roundRect">
            <a:avLst>
              <a:gd name="adj" fmla="val 5417"/>
            </a:avLst>
          </a:prstGeom>
          <a:solidFill>
            <a:srgbClr val="1A1F2E"/>
          </a:solidFill>
          <a:ln w="19050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13434" y="1692027"/>
            <a:ext cx="608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6435" y="1609576"/>
            <a:ext cx="715268" cy="298252"/>
          </a:xfrm>
          <a:prstGeom prst="roundRect">
            <a:avLst>
              <a:gd name="adj" fmla="val 17033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62635" y="1711077"/>
            <a:ext cx="5741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13434" y="2320677"/>
            <a:ext cx="15116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713434" y="2800052"/>
            <a:ext cx="1511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13434" y="3174653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856458" y="3174653"/>
            <a:ext cx="118620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persona archetypes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13434" y="3615184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56458" y="3615184"/>
            <a:ext cx="113398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campaign scans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13434" y="4055715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56458" y="4055715"/>
            <a:ext cx="111455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competitors tracked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13434" y="4496246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856458" y="4496246"/>
            <a:ext cx="117284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journey transcripts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13434" y="4936778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56458" y="4936778"/>
            <a:ext cx="97883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agents per run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44616" y="1406277"/>
            <a:ext cx="1856333" cy="3356223"/>
          </a:xfrm>
          <a:prstGeom prst="roundRect">
            <a:avLst>
              <a:gd name="adj" fmla="val 5473"/>
            </a:avLst>
          </a:prstGeom>
          <a:solidFill>
            <a:srgbClr val="1A2030"/>
          </a:solidFill>
          <a:ln w="9525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31841" y="1682502"/>
            <a:ext cx="151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31841" y="2234952"/>
            <a:ext cx="15115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100"/>
              </a:spcAft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$15k+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731841" y="2714327"/>
            <a:ext cx="1511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0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31841" y="3088928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74865" y="3088928"/>
            <a:ext cx="136563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persona definitions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31841" y="3677989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4865" y="3677989"/>
            <a:ext cx="107568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31841" y="4118521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74865" y="4118521"/>
            <a:ext cx="11209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competitors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31841" y="4559052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74865" y="4559052"/>
            <a:ext cx="79697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API access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31841" y="4999583"/>
            <a:ext cx="68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74865" y="4999583"/>
            <a:ext cx="13480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analyst support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04099" y="1000125"/>
            <a:ext cx="2031950" cy="2320528"/>
          </a:xfrm>
          <a:prstGeom prst="roundRect">
            <a:avLst>
              <a:gd name="adj" fmla="val 5000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756499" y="1279475"/>
            <a:ext cx="17616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56499" y="1549301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96100" y="1625501"/>
            <a:ext cx="161930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Digital Marketing or CMO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56499" y="2151162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896100" y="2227362"/>
            <a:ext cx="15329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doing $50M+ revenue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756499" y="2604492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896100" y="2680692"/>
            <a:ext cx="161930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pay this for tools that show less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04099" y="3447604"/>
            <a:ext cx="2031950" cy="1721197"/>
          </a:xfrm>
          <a:prstGeom prst="roundRect">
            <a:avLst>
              <a:gd name="adj" fmla="val 5903"/>
            </a:avLst>
          </a:prstGeom>
          <a:solidFill>
            <a:srgbClr val="A78BFA">
              <a:alpha val="8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766024" y="3863429"/>
            <a:ext cx="174226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766024" y="4412605"/>
            <a:ext cx="1742262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martech spend. We replace 3 tools with one consumer-reality platform.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3877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244352"/>
            <a:ext cx="9144000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250"/>
            <a:ext cx="8290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MVP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7950" y="615851"/>
            <a:ext cx="829066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00"/>
              </a:spcBef>
              <a:spcAft>
                <a:spcPts val="19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loop — built today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50" y="1507778"/>
            <a:ext cx="49227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0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3251" y="174902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230" y="1829991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0F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3001" y="2053828"/>
            <a:ext cx="25301" cy="690563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0451" y="1913930"/>
            <a:ext cx="4430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0451" y="2180630"/>
            <a:ext cx="443057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URL + product category. System auto-generates 5 persona archetypes and assigns starting platforms.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251" y="274439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0230" y="2825353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3001" y="3049191"/>
            <a:ext cx="25301" cy="1090315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90451" y="2909292"/>
            <a:ext cx="4430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10 agents via tinyfish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90451" y="3175992"/>
            <a:ext cx="443057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per persona, mixed starting points. Each begins with a lifestyle search — not a product query.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451" y="3625453"/>
            <a:ext cx="726281" cy="361652"/>
          </a:xfrm>
          <a:prstGeom prst="roundRect">
            <a:avLst>
              <a:gd name="adj" fmla="val 14047"/>
            </a:avLst>
          </a:prstGeom>
          <a:solidFill>
            <a:srgbClr val="00D4AA">
              <a:alpha val="8000"/>
            </a:srgbClr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76176" y="3749129"/>
            <a:ext cx="5659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API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4201" y="413950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1F2E"/>
          </a:solidFill>
          <a:ln w="19050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0230" y="4239518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3001" y="4482405"/>
            <a:ext cx="25301" cy="652463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90451" y="4304407"/>
            <a:ext cx="4430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journeys to completion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0451" y="4571107"/>
            <a:ext cx="443057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surf the web in persona. Decisions logged with consumer-voice explanations at every step.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4201" y="5134868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1F2E"/>
          </a:solidFill>
          <a:ln w="19050">
            <a:solidFill>
              <a:srgbClr val="2D37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230" y="5234880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0451" y="5299770"/>
            <a:ext cx="44305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journey map + 3 insight cards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0451" y="5566470"/>
            <a:ext cx="443057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funnel + plain-English findings. Every stat links to an agent transcript.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88050" y="1406277"/>
            <a:ext cx="3048000" cy="1698575"/>
          </a:xfrm>
          <a:prstGeom prst="roundRect">
            <a:avLst>
              <a:gd name="adj" fmla="val 5982"/>
            </a:avLst>
          </a:prstGeom>
          <a:solidFill>
            <a:srgbClr val="FF6B35">
              <a:alpha val="8000"/>
            </a:srgbClr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84800" y="1704677"/>
            <a:ext cx="2707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moment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84800" y="1961852"/>
            <a:ext cx="27075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 starts with 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"futuristic room inspiration"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zero purchase intent. We trace the full journey to a 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purchase</a:t>
            </a:r>
            <a:pPr algn="l" indent="0" marL="0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CMO in the room will recognise it, because it is exactly how they shop themselves.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88050" y="3231803"/>
            <a:ext cx="3048000" cy="1952179"/>
          </a:xfrm>
          <a:prstGeom prst="roundRect">
            <a:avLst>
              <a:gd name="adj" fmla="val 5204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765750" y="3511153"/>
            <a:ext cx="27464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5750" y="3869829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API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03950" y="3869829"/>
            <a:ext cx="38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18250" y="3869829"/>
            <a:ext cx="1050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web browsing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5750" y="429518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03950" y="4295180"/>
            <a:ext cx="38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18250" y="4295180"/>
            <a:ext cx="1766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reasoning + insight cards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65750" y="4720530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03950" y="4720530"/>
            <a:ext cx="38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18250" y="4720530"/>
            <a:ext cx="1571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 + journey map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Mystery Shopper</dc:title>
  <dc:subject>PptxGenJS Presentation</dc:subject>
  <dc:creator>Tinyfish Hackathon 2026</dc:creator>
  <cp:lastModifiedBy>Tinyfish Hackathon 2026</cp:lastModifiedBy>
  <cp:revision>1</cp:revision>
  <dcterms:created xsi:type="dcterms:W3CDTF">2026-03-27T18:19:46Z</dcterms:created>
  <dcterms:modified xsi:type="dcterms:W3CDTF">2026-03-27T18:19:46Z</dcterms:modified>
</cp:coreProperties>
</file>